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FF6B00">
              <a:alpha val="12000"/>
            </a:srgbClr>
          </a:solidFill>
          <a:ln w="12700">
            <a:solidFill>
              <a:srgbClr val="FF6B0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274320"/>
            <a:ext cx="1280160" cy="1280160"/>
          </a:xfrm>
          <a:prstGeom prst="ellipse">
            <a:avLst/>
          </a:prstGeom>
          <a:solidFill>
            <a:srgbClr val="FF6B00">
              <a:alpha val="24000"/>
            </a:srgbClr>
          </a:solidFill>
          <a:ln w="12700">
            <a:solidFill>
              <a:srgbClr val="FF6B00">
                <a:alpha val="2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49808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Especialistas en Tecnologia &amp; Software a la Medida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280160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Propuesta de Servicios de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84048" y="1819656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6B00"/>
                </a:solidFill>
              </a:rPr>
              <a:t>Desarrollo de Software a la Medida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84048" y="2505456"/>
            <a:ext cx="71323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9D1D9"/>
                </a:solidFill>
              </a:rPr>
              <a:t>Transformacion digital, e-commerce, seguridad informatica y soluciones cloud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9D1D9"/>
                </a:solidFill>
              </a:rPr>
              <a:t>para empresas que quieren crecer en la economia digital colombiana.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4048" y="3218688"/>
            <a:ext cx="8366760" cy="0"/>
          </a:xfrm>
          <a:prstGeom prst="line">
            <a:avLst/>
          </a:prstGeom>
          <a:noFill/>
          <a:ln w="15240">
            <a:solidFill>
              <a:srgbClr val="FF6B00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3383280"/>
            <a:ext cx="3931920" cy="1554480"/>
          </a:xfrm>
          <a:prstGeom prst="rect">
            <a:avLst/>
          </a:prstGeom>
          <a:solidFill>
            <a:srgbClr val="1C2333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3383280"/>
            <a:ext cx="64008" cy="15544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529584"/>
            <a:ext cx="594360" cy="59436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9584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JH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61872" y="344728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Jhonnatan Hernandez Medina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261872" y="3712464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Ing. Industrial  |  Gerente Comercial  |  Certificado ISO 27001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61872" y="395020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Email:    softhardgsm@gmail.com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61872" y="4151376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WhatsApp: 304 592 8793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61872" y="4352544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00"/>
                </a:solidFill>
              </a:rPr>
              <a:t>Web:      outiltech.co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61872" y="455371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Dir:      Cra 2A No 18A-52, Bogota D.C.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3383280"/>
            <a:ext cx="4005072" cy="1554480"/>
          </a:xfrm>
          <a:prstGeom prst="rect">
            <a:avLst/>
          </a:prstGeom>
          <a:solidFill>
            <a:srgbClr val="1C2333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p>
            <a:endParaRPr lang="es-MX" altLang="en-US"/>
          </a:p>
        </p:txBody>
      </p:sp>
      <p:sp>
        <p:nvSpPr>
          <p:cNvPr id="23" name="Shape 21"/>
          <p:cNvSpPr/>
          <p:nvPr/>
        </p:nvSpPr>
        <p:spPr>
          <a:xfrm>
            <a:off x="4754880" y="3383280"/>
            <a:ext cx="64008" cy="15544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3529584"/>
            <a:ext cx="594360" cy="59436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3529584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32704" y="34472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Alejandro Chaparro Reyes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32704" y="371246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Ing. Sistemas  |  PhD Gestion Tecnologica  |  Full-Stack Senior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32704" y="395020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Email:    alejandrochreyes2@gmail.com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32704" y="415137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</a:rPr>
              <a:t>WhatsApp: 313 308 2905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32704" y="435254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00"/>
                </a:solidFill>
              </a:rPr>
              <a:t>Web:      outiltech.co</a:t>
            </a:r>
            <a:r>
              <a:rPr lang="es-MX" altLang="en-US" sz="900" dirty="0">
                <a:solidFill>
                  <a:srgbClr val="FF6B00"/>
                </a:solidFill>
              </a:rPr>
              <a:t>/portafolio </a:t>
            </a:r>
            <a:endParaRPr lang="es-MX" altLang="en-US" sz="900" dirty="0">
              <a:solidFill>
                <a:srgbClr val="FF6B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5632704" y="455371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</a:rPr>
              <a:t>GitHub:   github.com/alejandrochreyes2</a:t>
            </a:r>
            <a:endParaRPr lang="en-US" sz="850" dirty="0"/>
          </a:p>
        </p:txBody>
      </p:sp>
      <p:pic>
        <p:nvPicPr>
          <p:cNvPr id="32" name="Imagen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375" y="31750"/>
            <a:ext cx="1873250" cy="7283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9456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117"/>
                </a:solidFill>
              </a:rPr>
              <a:t>Quienes Somos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84048" y="621792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6B00"/>
                </a:solidFill>
              </a:rPr>
              <a:t>OUTILTECH  -  Desde 2018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841248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61B22"/>
                </a:solidFill>
              </a:rPr>
              <a:t>Firma de consultoria tecnologica especializada en transformacion digital, seguridad informatica, analisis forense y desarrollo de software empresarial a la medida.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1499616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61B22"/>
                </a:solidFill>
              </a:rPr>
              <a:t>Nuestro equipo combina ingenieria de software (Angular 21, .NET 8, microservicios) con una vision estrategica de negocio impulsada por gestion de la innovacion y cumplimiento de estandares ISO 27001.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2331720"/>
            <a:ext cx="4389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</a:rPr>
              <a:t>Nuestra trayectoria: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596896"/>
            <a:ext cx="493776" cy="493776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596896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2018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3127248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1B22"/>
                </a:solidFill>
              </a:rPr>
              <a:t>Fundacion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86968" y="2843784"/>
            <a:ext cx="329184" cy="0"/>
          </a:xfrm>
          <a:prstGeom prst="line">
            <a:avLst/>
          </a:prstGeom>
          <a:noFill/>
          <a:ln w="19050">
            <a:solidFill>
              <a:srgbClr val="FF6B00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43584" y="2596896"/>
            <a:ext cx="493776" cy="493776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2596896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2020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33856" y="3127248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1B22"/>
                </a:solidFill>
              </a:rPr>
              <a:t>Ciberseg.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746504" y="2843784"/>
            <a:ext cx="329184" cy="0"/>
          </a:xfrm>
          <a:prstGeom prst="line">
            <a:avLst/>
          </a:prstGeom>
          <a:noFill/>
          <a:ln w="19050">
            <a:solidFill>
              <a:srgbClr val="FF6B00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596896"/>
            <a:ext cx="493776" cy="493776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2596896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2021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993392" y="3127248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1B22"/>
                </a:solidFill>
              </a:rPr>
              <a:t>Microelect.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606040" y="2843784"/>
            <a:ext cx="329184" cy="0"/>
          </a:xfrm>
          <a:prstGeom prst="line">
            <a:avLst/>
          </a:prstGeom>
          <a:noFill/>
          <a:ln w="19050">
            <a:solidFill>
              <a:srgbClr val="FF6B00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62656" y="2596896"/>
            <a:ext cx="493776" cy="493776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62656" y="2596896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2023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52928" y="3127248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1B22"/>
                </a:solidFill>
              </a:rPr>
              <a:t>Aliado Est.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465576" y="2843784"/>
            <a:ext cx="329184" cy="0"/>
          </a:xfrm>
          <a:prstGeom prst="line">
            <a:avLst/>
          </a:prstGeom>
          <a:noFill/>
          <a:ln w="19050">
            <a:solidFill>
              <a:srgbClr val="FF6B00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22192" y="2596896"/>
            <a:ext cx="493776" cy="493776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2596896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2026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12464" y="3127248"/>
            <a:ext cx="7132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1B22"/>
                </a:solidFill>
              </a:rPr>
              <a:t>Software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3474720"/>
            <a:ext cx="987552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3520440"/>
            <a:ext cx="9875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00"/>
                </a:solidFill>
              </a:rPr>
              <a:t>8+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84048" y="3959352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C9D1D9"/>
                </a:solidFill>
              </a:rPr>
              <a:t>Anos de</a:t>
            </a:r>
            <a:endParaRPr lang="en-US" sz="7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C9D1D9"/>
                </a:solidFill>
              </a:rPr>
              <a:t>experiencia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481328" y="3474720"/>
            <a:ext cx="987552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81328" y="3520440"/>
            <a:ext cx="9875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00"/>
                </a:solidFill>
              </a:rPr>
              <a:t>500+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481328" y="3959352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C9D1D9"/>
                </a:solidFill>
              </a:rPr>
              <a:t>Clientes</a:t>
            </a:r>
            <a:endParaRPr lang="en-US" sz="7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C9D1D9"/>
                </a:solidFill>
              </a:rPr>
              <a:t>atendidos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578608" y="3474720"/>
            <a:ext cx="987552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78608" y="3520440"/>
            <a:ext cx="9875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00"/>
                </a:solidFill>
              </a:rPr>
              <a:t>99%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2578608" y="3959352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C9D1D9"/>
                </a:solidFill>
              </a:rPr>
              <a:t>Satisfaccion</a:t>
            </a:r>
            <a:endParaRPr lang="en-US" sz="7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C9D1D9"/>
                </a:solidFill>
              </a:rPr>
              <a:t>cliente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675888" y="3474720"/>
            <a:ext cx="987552" cy="98755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675888" y="3520440"/>
            <a:ext cx="9875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00"/>
                </a:solidFill>
              </a:rPr>
              <a:t>24/7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675888" y="3959352"/>
            <a:ext cx="98755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C9D1D9"/>
                </a:solidFill>
              </a:rPr>
              <a:t>Soporte</a:t>
            </a:r>
            <a:endParaRPr lang="en-US" sz="7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C9D1D9"/>
                </a:solidFill>
              </a:rPr>
              <a:t>continuo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937760" y="530352"/>
            <a:ext cx="3858768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37760" y="530352"/>
            <a:ext cx="64008" cy="19202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676656"/>
            <a:ext cx="384048" cy="38404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2352" y="6766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596128" y="6949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</a:rPr>
              <a:t>MISION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20640" y="1024128"/>
            <a:ext cx="35204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D1D9"/>
                </a:solidFill>
              </a:rPr>
              <a:t>Brindar servicios especializados en seguridad informatica, auditoria, analisis forense digital, microelectronica, recuperacion de datos y desarrollo de software a la medida.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120640" y="1737360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Ayudamos a empresas a proteger su informacion e identificar vulnerabilidades con enfoque etico y orientado a resultados.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37760" y="2542032"/>
            <a:ext cx="3858768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937760" y="2542032"/>
            <a:ext cx="64008" cy="19202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02352" y="2688336"/>
            <a:ext cx="384048" cy="38404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02352" y="26883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596128" y="270662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00"/>
                </a:solidFill>
              </a:rPr>
              <a:t>VISION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20640" y="3035808"/>
            <a:ext cx="35204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C9D1D9"/>
                </a:solidFill>
              </a:rPr>
              <a:t>Ser una empresa reconocida a nivel nacional por excelencia en seguridad informatica, analisis forense, software a la medida y soluciones tecnologicas avanzadas.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120640" y="3749040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Destacarnos por confianza, innovacion y capacidad de resolver problemas complejos — el aliado tecnologico de Colombia y Latinoamerica.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937760" y="4553712"/>
            <a:ext cx="722376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553712"/>
            <a:ext cx="722376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C9D1D9"/>
                </a:solidFill>
              </a:rPr>
              <a:t>Seguridad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715000" y="4553712"/>
            <a:ext cx="722376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15000" y="4553712"/>
            <a:ext cx="722376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C9D1D9"/>
                </a:solidFill>
              </a:rPr>
              <a:t>Precision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492240" y="4553712"/>
            <a:ext cx="722376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92240" y="4553712"/>
            <a:ext cx="722376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C9D1D9"/>
                </a:solidFill>
              </a:rPr>
              <a:t>Etica Prof.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269480" y="4553712"/>
            <a:ext cx="722376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69480" y="4553712"/>
            <a:ext cx="722376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C9D1D9"/>
                </a:solidFill>
              </a:rPr>
              <a:t>Innovacion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046720" y="4553712"/>
            <a:ext cx="722376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46720" y="4553712"/>
            <a:ext cx="722376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C9D1D9"/>
                </a:solidFill>
              </a:rPr>
              <a:t>Excelencia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945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Portafolio de Servicios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521208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Todo lo que necesitas para digitalizarte, protegerte y crecer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822960"/>
            <a:ext cx="2706624" cy="1600200"/>
          </a:xfrm>
          <a:prstGeom prst="rect">
            <a:avLst/>
          </a:prstGeom>
          <a:solidFill>
            <a:srgbClr val="21262D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822960"/>
            <a:ext cx="2706624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950976"/>
            <a:ext cx="420624" cy="420624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95097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7552" y="978408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E-Commerce Profesional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426464"/>
            <a:ext cx="24505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9D1D9"/>
                </a:solidFill>
              </a:rPr>
              <a:t>Tienda online completa: catalogo, carrito, checkout, pasarela de pagos (Wompi, Nequi, PSE), panel admin y dashboard en tiempo real. Caso real: outiltech.co — 114 productos, lanzado en 36 dias.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" y="2185416"/>
            <a:ext cx="2450592" cy="182880"/>
          </a:xfrm>
          <a:prstGeom prst="rect">
            <a:avLst/>
          </a:prstGeom>
          <a:solidFill>
            <a:srgbClr val="FF6B00">
              <a:alpha val="18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185416"/>
            <a:ext cx="2450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8C38"/>
                </a:solidFill>
              </a:rPr>
              <a:t>$  Desde $19.500.000 COP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72968" y="822960"/>
            <a:ext cx="2706624" cy="1600200"/>
          </a:xfrm>
          <a:prstGeom prst="rect">
            <a:avLst/>
          </a:prstGeom>
          <a:solidFill>
            <a:srgbClr val="21262D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822960"/>
            <a:ext cx="2706624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00984" y="950976"/>
            <a:ext cx="420624" cy="420624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00984" y="95097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3048" y="978408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Software a la Medida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00984" y="1426464"/>
            <a:ext cx="24505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9D1D9"/>
                </a:solidFill>
              </a:rPr>
              <a:t>Plataformas empresariales, ERP, CRM, sistemas de gestion de inventario, modulos especificos para tus procesos. Angular 21 + .NET 8 + microservicios + despliegue en la nube.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00984" y="2185416"/>
            <a:ext cx="2450592" cy="182880"/>
          </a:xfrm>
          <a:prstGeom prst="rect">
            <a:avLst/>
          </a:prstGeom>
          <a:solidFill>
            <a:srgbClr val="FF6B00">
              <a:alpha val="18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2185416"/>
            <a:ext cx="2450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8C38"/>
                </a:solidFill>
              </a:rPr>
              <a:t>$  $175.000/hora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98464" y="822960"/>
            <a:ext cx="2706624" cy="1600200"/>
          </a:xfrm>
          <a:prstGeom prst="rect">
            <a:avLst/>
          </a:prstGeom>
          <a:solidFill>
            <a:srgbClr val="21262D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98464" y="822960"/>
            <a:ext cx="2706624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950976"/>
            <a:ext cx="420624" cy="420624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95097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ISO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38544" y="978408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Seguridad &amp; ISO 27001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1426464"/>
            <a:ext cx="24505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9D1D9"/>
                </a:solidFill>
              </a:rPr>
              <a:t>Auditoria interna del SGSI, diagnostico de vulnerabilidades, ethical hacking, analisis forense digital con validez legal. Jhonnatan certificado en ISO 27001.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2185416"/>
            <a:ext cx="2450592" cy="182880"/>
          </a:xfrm>
          <a:prstGeom prst="rect">
            <a:avLst/>
          </a:prstGeom>
          <a:solidFill>
            <a:srgbClr val="FF6B00">
              <a:alpha val="18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185416"/>
            <a:ext cx="2450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8C38"/>
                </a:solidFill>
              </a:rPr>
              <a:t>$  Consultoria a la medida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7472" y="2532888"/>
            <a:ext cx="2706624" cy="1600200"/>
          </a:xfrm>
          <a:prstGeom prst="rect">
            <a:avLst/>
          </a:prstGeom>
          <a:solidFill>
            <a:srgbClr val="21262D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" y="2532888"/>
            <a:ext cx="2706624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2660904"/>
            <a:ext cx="420624" cy="420624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266090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87552" y="2688336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Analisis Forense Digital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" y="3136392"/>
            <a:ext cx="24505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9D1D9"/>
                </a:solidFill>
              </a:rPr>
              <a:t>Recuperacion y analisis de evidencia digital para procesos judiciales o corporativos. Recuperacion de datos en dispositivos criticos, especialmente ecosistema Apple.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" y="3895344"/>
            <a:ext cx="2450592" cy="182880"/>
          </a:xfrm>
          <a:prstGeom prst="rect">
            <a:avLst/>
          </a:prstGeom>
          <a:solidFill>
            <a:srgbClr val="FF6B00">
              <a:alpha val="18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895344"/>
            <a:ext cx="2450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8C38"/>
                </a:solidFill>
              </a:rPr>
              <a:t>$  Diagnostico gratuito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72968" y="2532888"/>
            <a:ext cx="2706624" cy="1600200"/>
          </a:xfrm>
          <a:prstGeom prst="rect">
            <a:avLst/>
          </a:prstGeom>
          <a:solidFill>
            <a:srgbClr val="21262D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72968" y="2532888"/>
            <a:ext cx="2706624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00984" y="2660904"/>
            <a:ext cx="420624" cy="420624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00984" y="266090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OPS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813048" y="2688336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DevOps &amp; Cloud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00984" y="3136392"/>
            <a:ext cx="24505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9D1D9"/>
                </a:solidFill>
              </a:rPr>
              <a:t>Configuracion de servidores (Hetzner, Azure, Oracle), Docker, Coolify, CI/CD con GitHub Actions, Cloudflare CDN, Terraform. Migracion y optimizacion de infraestructura.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00984" y="3895344"/>
            <a:ext cx="2450592" cy="182880"/>
          </a:xfrm>
          <a:prstGeom prst="rect">
            <a:avLst/>
          </a:prstGeom>
          <a:solidFill>
            <a:srgbClr val="FF6B00">
              <a:alpha val="18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00984" y="3895344"/>
            <a:ext cx="2450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8C38"/>
                </a:solidFill>
              </a:rPr>
              <a:t>$  $175.000/hora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998464" y="2532888"/>
            <a:ext cx="2706624" cy="1600200"/>
          </a:xfrm>
          <a:prstGeom prst="rect">
            <a:avLst/>
          </a:prstGeom>
          <a:solidFill>
            <a:srgbClr val="21262D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998464" y="2532888"/>
            <a:ext cx="2706624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26480" y="2660904"/>
            <a:ext cx="420624" cy="420624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266090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PWA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638544" y="2688336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Apps Web Progresivas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126480" y="3136392"/>
            <a:ext cx="245059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850" dirty="0">
                <a:solidFill>
                  <a:srgbClr val="C9D1D9"/>
                </a:solidFill>
              </a:rPr>
              <a:t>Aplicaciones instalables en Android/iOS sin app store. Notificaciones push, funcionamiento offline, integracion con IA y APIs externas. Diseño responsive mobile-first.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126480" y="3895344"/>
            <a:ext cx="2450592" cy="182880"/>
          </a:xfrm>
          <a:prstGeom prst="rect">
            <a:avLst/>
          </a:prstGeom>
          <a:solidFill>
            <a:srgbClr val="FF6B00">
              <a:alpha val="18000"/>
            </a:srgbClr>
          </a:solidFill>
          <a:ln w="12700">
            <a:solidFill>
              <a:srgbClr val="FF6B00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0" y="3895344"/>
            <a:ext cx="24505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8C38"/>
                </a:solidFill>
              </a:rPr>
              <a:t>$  Desde $8.000.000 COP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47472" y="5001768"/>
            <a:ext cx="84124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681"/>
                </a:solidFill>
              </a:rPr>
              <a:t>Cra 2A No 18A-52, Bogota  |  outiltech.co  |  softhardgsm@gmail.com  |  alejandrochreyes2@gmail.com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945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1117"/>
                </a:solidFill>
              </a:rPr>
              <a:t>Metodologia de Trabajo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521208"/>
            <a:ext cx="7132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681"/>
                </a:solidFill>
              </a:rPr>
              <a:t>Proceso agil con entregables reales cada semana — siempre sabras el avance de tu proyecto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868680"/>
            <a:ext cx="2066544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868680"/>
            <a:ext cx="2066544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024128"/>
            <a:ext cx="658368" cy="65836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0241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24712" y="1828800"/>
            <a:ext cx="512064" cy="512064"/>
          </a:xfrm>
          <a:prstGeom prst="ellipse">
            <a:avLst/>
          </a:prstGeom>
          <a:solidFill>
            <a:srgbClr val="FF6B00">
              <a:alpha val="75000"/>
            </a:srgbClr>
          </a:solidFill>
          <a:ln w="12700">
            <a:solidFill>
              <a:srgbClr val="FF6B00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182880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DESC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8912" y="2414016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Descubrimiento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" y="2743200"/>
            <a:ext cx="1609344" cy="237744"/>
          </a:xfrm>
          <a:prstGeom prst="rect">
            <a:avLst/>
          </a:prstGeom>
          <a:solidFill>
            <a:srgbClr val="FF6B00">
              <a:alpha val="20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74320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8C38"/>
                </a:solidFill>
              </a:rPr>
              <a:t>3-5 dias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035808"/>
            <a:ext cx="1847088" cy="1298448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900" dirty="0">
                <a:solidFill>
                  <a:srgbClr val="C9D1D9"/>
                </a:solidFill>
              </a:rPr>
              <a:t>Reunion de requisitos, analisis de procesos actuales, definicion de alcance, arquitectura propuesta y presupuesto detallado sin costo.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868680"/>
            <a:ext cx="2066544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0" y="868680"/>
            <a:ext cx="2066544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4408" y="1024128"/>
            <a:ext cx="658368" cy="65836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10241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337560" y="1828800"/>
            <a:ext cx="512064" cy="512064"/>
          </a:xfrm>
          <a:prstGeom prst="ellipse">
            <a:avLst/>
          </a:prstGeom>
          <a:solidFill>
            <a:srgbClr val="FF6B00">
              <a:alpha val="75000"/>
            </a:srgbClr>
          </a:solidFill>
          <a:ln w="12700">
            <a:solidFill>
              <a:srgbClr val="FF6B00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82880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DEV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51760" y="2414016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Desarrollo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88920" y="2743200"/>
            <a:ext cx="1609344" cy="237744"/>
          </a:xfrm>
          <a:prstGeom prst="rect">
            <a:avLst/>
          </a:prstGeom>
          <a:solidFill>
            <a:srgbClr val="FF6B00">
              <a:alpha val="20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274320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8C38"/>
                </a:solidFill>
              </a:rPr>
              <a:t>Sprints semanales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70048" y="3035808"/>
            <a:ext cx="1847088" cy="1298448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900" dirty="0">
                <a:solidFill>
                  <a:srgbClr val="C9D1D9"/>
                </a:solidFill>
              </a:rPr>
              <a:t>Entregas semanales funcionales. Demo al final de cada sprint. Codigo en GitHub desde el dia 1. Comunicacion constante via WhatsApp.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73168" y="868680"/>
            <a:ext cx="2066544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868680"/>
            <a:ext cx="2066544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77256" y="1024128"/>
            <a:ext cx="658368" cy="65836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10241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550408" y="1828800"/>
            <a:ext cx="512064" cy="512064"/>
          </a:xfrm>
          <a:prstGeom prst="ellipse">
            <a:avLst/>
          </a:prstGeom>
          <a:solidFill>
            <a:srgbClr val="FF6B00">
              <a:alpha val="75000"/>
            </a:srgbClr>
          </a:solidFill>
          <a:ln w="12700">
            <a:solidFill>
              <a:srgbClr val="FF6B00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0408" y="182880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QA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64608" y="2414016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Pruebas &amp; QA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001768" y="2743200"/>
            <a:ext cx="1609344" cy="237744"/>
          </a:xfrm>
          <a:prstGeom prst="rect">
            <a:avLst/>
          </a:prstGeom>
          <a:solidFill>
            <a:srgbClr val="FF6B00">
              <a:alpha val="20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01768" y="274320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8C38"/>
                </a:solidFill>
              </a:rPr>
              <a:t>3-5 dias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82896" y="3035808"/>
            <a:ext cx="1847088" cy="1298448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900" dirty="0">
                <a:solidFill>
                  <a:srgbClr val="C9D1D9"/>
                </a:solidFill>
              </a:rPr>
              <a:t>Pruebas end-to-end con Postman (24+ requests), revision de seguridad, configuracion del servidor de produccion y pruebas de carga.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86016" y="868680"/>
            <a:ext cx="2066544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86016" y="868680"/>
            <a:ext cx="2066544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90104" y="1024128"/>
            <a:ext cx="658368" cy="65836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90104" y="102412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763256" y="1828800"/>
            <a:ext cx="512064" cy="512064"/>
          </a:xfrm>
          <a:prstGeom prst="ellipse">
            <a:avLst/>
          </a:prstGeom>
          <a:solidFill>
            <a:srgbClr val="FF6B00">
              <a:alpha val="75000"/>
            </a:srgbClr>
          </a:solidFill>
          <a:ln w="12700">
            <a:solidFill>
              <a:srgbClr val="FF6B00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63256" y="182880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ENT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077456" y="2414016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Entrega &amp; Soporte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214616" y="2743200"/>
            <a:ext cx="1609344" cy="237744"/>
          </a:xfrm>
          <a:prstGeom prst="rect">
            <a:avLst/>
          </a:prstGeom>
          <a:solidFill>
            <a:srgbClr val="FF6B00">
              <a:alpha val="20000"/>
            </a:srgbClr>
          </a:solidFill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14616" y="274320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8C38"/>
                </a:solidFill>
              </a:rPr>
              <a:t>Soporte 15 dias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95744" y="3035808"/>
            <a:ext cx="1847088" cy="1298448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900" dirty="0">
                <a:solidFill>
                  <a:srgbClr val="C9D1D9"/>
                </a:solidFill>
              </a:rPr>
              <a:t>URL funcionando en produccion, 15 dias de soporte correctivo gratuito, manuales tecnicos y de usuario, acta de entrega firmada y 100% del codigo fuente entregado.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47472" y="4535424"/>
            <a:ext cx="8412480" cy="42062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4535424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D1D9"/>
                </a:solidFill>
              </a:rPr>
              <a:t>Codigo 100% tuyo   |   Demos semanales   |   15 dias soporte post-entrega   |   Documentacion completa   |   Precios fijos acordados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0" y="182880"/>
            <a:ext cx="438912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FF6B00">
                    <a:alpha val="9000"/>
                  </a:srgbClr>
                </a:solidFill>
              </a:rPr>
              <a:t>36</a:t>
            </a:r>
            <a:endParaRPr lang="en-US" sz="18000" dirty="0"/>
          </a:p>
        </p:txBody>
      </p:sp>
      <p:sp>
        <p:nvSpPr>
          <p:cNvPr id="4" name="Shape 2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Ultimo Caso de Exito: OutilTech E-Commerce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521208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00"/>
                </a:solidFill>
              </a:rPr>
              <a:t>De cero presencia digital a plataforma completa en produccion — https://outiltech.co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" y="804672"/>
            <a:ext cx="5029200" cy="512064"/>
          </a:xfrm>
          <a:prstGeom prst="rect">
            <a:avLst/>
          </a:prstGeom>
          <a:solidFill>
            <a:srgbClr val="1C2333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41248"/>
            <a:ext cx="48280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9D1D9"/>
                </a:solidFill>
              </a:rPr>
              <a:t>ANTES: El comercio no tenia NINGUNA presencia digital — cero pagina web, cero plataforma. Perdia clientes a diario frente a competidores con e-commerce.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1444752"/>
            <a:ext cx="2084832" cy="1097280"/>
          </a:xfrm>
          <a:prstGeom prst="rect">
            <a:avLst/>
          </a:prstGeom>
          <a:solidFill>
            <a:srgbClr val="21262D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" y="1490472"/>
            <a:ext cx="208483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00"/>
                </a:solidFill>
              </a:rPr>
              <a:t>36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" y="1984248"/>
            <a:ext cx="20848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D1D9"/>
                </a:solidFill>
              </a:rPr>
              <a:t>dias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336" y="2185416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</a:rPr>
              <a:t>para lanzar la plataforma completa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78608" y="1444752"/>
            <a:ext cx="2084832" cy="1097280"/>
          </a:xfrm>
          <a:prstGeom prst="rect">
            <a:avLst/>
          </a:prstGeom>
          <a:solidFill>
            <a:srgbClr val="21262D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78608" y="1490472"/>
            <a:ext cx="208483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00"/>
                </a:solidFill>
              </a:rPr>
              <a:t>114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78608" y="1984248"/>
            <a:ext cx="20848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D1D9"/>
                </a:solidFill>
              </a:rPr>
              <a:t>prods.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33472" y="2185416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</a:rPr>
              <a:t>en catalogo con variantes y precios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09744" y="1444752"/>
            <a:ext cx="2084832" cy="1097280"/>
          </a:xfrm>
          <a:prstGeom prst="rect">
            <a:avLst/>
          </a:prstGeom>
          <a:solidFill>
            <a:srgbClr val="21262D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9744" y="1490472"/>
            <a:ext cx="208483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00"/>
                </a:solidFill>
              </a:rPr>
              <a:t>$20M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809744" y="1984248"/>
            <a:ext cx="20848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D1D9"/>
                </a:solidFill>
              </a:rPr>
              <a:t>COP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64608" y="2185416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</a:rPr>
              <a:t>proyecto firmado y entregado 2026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040880" y="1444752"/>
            <a:ext cx="2084832" cy="1097280"/>
          </a:xfrm>
          <a:prstGeom prst="rect">
            <a:avLst/>
          </a:prstGeom>
          <a:solidFill>
            <a:srgbClr val="21262D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1490472"/>
            <a:ext cx="2084832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00"/>
                </a:solidFill>
              </a:rPr>
              <a:t>99.9%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40880" y="1984248"/>
            <a:ext cx="20848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D1D9"/>
                </a:solidFill>
              </a:rPr>
              <a:t>uptime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95744" y="2185416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00" dirty="0">
                <a:solidFill>
                  <a:srgbClr val="8B949E"/>
                </a:solidFill>
              </a:rPr>
              <a:t>Hetzner + Coolify + Cloudflare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7472" y="2578608"/>
            <a:ext cx="8412480" cy="2377440"/>
          </a:xfrm>
          <a:prstGeom prst="rect">
            <a:avLst/>
          </a:prstGeom>
          <a:solidFill>
            <a:srgbClr val="1C2333"/>
          </a:solidFill>
          <a:ln w="12700">
            <a:solidFill>
              <a:srgbClr val="1C2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633472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6B00"/>
                </a:solidFill>
              </a:rPr>
              <a:t>ENTREGABLES DEL PROYECTO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88950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&gt; 114 productos: catalogo, carrito, filtros por marca y categoria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2004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&gt; Pasarela Wompi (tarjeta + PSE) + Nequi QR + Daviplata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351129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&gt; Dashboard admin en tiempo real con Supabase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382219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&gt; 3 microservicios .NET 8 + API Gateway YARP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13308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&gt; Autenticacion JWT con roles Admin / Vendedor / User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44398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&gt; EmailJS: confirmaciones automaticas de pedidos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9160" y="2889504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&gt; AppSheet para gestion de inventario sin codigo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09160" y="320040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&gt; HTTPS + Cloudflare CDN + Hetzner VPS + Coolify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09160" y="3511296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&gt; 13 documentos tecnicos y comerciales completos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09160" y="382219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&gt; 30 horas de capacitacion y soporte incluidas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09160" y="4133088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&gt; CI/CD automatizado con GitHub Actions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4443984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1D9"/>
                </a:solidFill>
              </a:rPr>
              <a:t>&gt; Coleccion Postman con 24 tests de API verificados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945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117"/>
                </a:solidFill>
              </a:rPr>
              <a:t>Modelos de Servicio y Precios Referenciales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52120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1"/>
                </a:solidFill>
              </a:rPr>
              <a:t>Precios en COP sin IVA  |  Pago 50% al iniciar / 50% al entregar  |  Reunion inicial GRATIS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7472" y="804672"/>
            <a:ext cx="2779776" cy="4187952"/>
          </a:xfrm>
          <a:prstGeom prst="rect">
            <a:avLst/>
          </a:prstGeom>
          <a:solidFill>
            <a:srgbClr val="0D1117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804672"/>
            <a:ext cx="2779776" cy="914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950976"/>
            <a:ext cx="2505456" cy="23774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950976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* MAS SOLICITADO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" y="1243584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E-COMMERCE PROFESIONAL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554480"/>
            <a:ext cx="259689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00"/>
                </a:solidFill>
              </a:rPr>
              <a:t>$19.500.000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8912" y="2057400"/>
            <a:ext cx="2596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COP — proyecto completo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0352" y="2304288"/>
            <a:ext cx="2414016" cy="0"/>
          </a:xfrm>
          <a:prstGeom prst="line">
            <a:avLst/>
          </a:prstGeom>
          <a:noFill/>
          <a:ln w="10160">
            <a:solidFill>
              <a:srgbClr val="FF6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377440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C9D1D9"/>
                </a:solidFill>
              </a:rPr>
              <a:t>Catalogo de productos con carrito de compras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3776" y="2642616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C9D1D9"/>
                </a:solidFill>
              </a:rPr>
              <a:t>Integracion pasarelas de pago (Wompi, Nequi, PSE)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3776" y="2907792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C9D1D9"/>
                </a:solidFill>
              </a:rPr>
              <a:t>Dashboard de gestion de pedidos e inventario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3776" y="3172968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8B949E"/>
                </a:solidFill>
              </a:rPr>
              <a:t>Panel de usuarios y roles (Admin / Vendedor)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" y="3438144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8B949E"/>
                </a:solidFill>
              </a:rPr>
              <a:t>Despliegue en produccion con HTTPS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3776" y="3703320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8B949E"/>
                </a:solidFill>
              </a:rPr>
              <a:t>30 horas de soporte post-entrega incluidas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" y="3968496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8B949E"/>
                </a:solidFill>
              </a:rPr>
              <a:t>Documentacion tecnica y de usuario completa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3776" y="4233672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8B949E"/>
                </a:solidFill>
              </a:rPr>
              <a:t>Codigo fuente 100% del cliente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91840" y="804672"/>
            <a:ext cx="2779776" cy="4187952"/>
          </a:xfrm>
          <a:prstGeom prst="rect">
            <a:avLst/>
          </a:prstGeom>
          <a:solidFill>
            <a:srgbClr val="161B22"/>
          </a:solidFill>
          <a:ln w="12700">
            <a:solidFill>
              <a:srgbClr val="3D44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804672"/>
            <a:ext cx="2779776" cy="91440"/>
          </a:xfrm>
          <a:prstGeom prst="rect">
            <a:avLst/>
          </a:prstGeom>
          <a:solidFill>
            <a:srgbClr val="3D444D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950976"/>
            <a:ext cx="2505456" cy="23774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950976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</a:rPr>
              <a:t># FLEXIBLE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29000" y="1243584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DESARROLLO A LA MEDIDA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1554480"/>
            <a:ext cx="259689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D1D9"/>
                </a:solidFill>
              </a:rPr>
              <a:t>$175.000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383280" y="2057400"/>
            <a:ext cx="2596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COP / hora  |  minimo 10 horas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74720" y="2304288"/>
            <a:ext cx="2414016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8144" y="2377440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C9D1D9"/>
                </a:solidFill>
              </a:rPr>
              <a:t>Funcionalidades adicionales a medida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38144" y="2642616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C9D1D9"/>
                </a:solidFill>
              </a:rPr>
              <a:t>Integraciones con APIs externas (IA, ERP, CRM)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38144" y="2907792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C9D1D9"/>
                </a:solidFill>
              </a:rPr>
              <a:t>Modulos especificos para su negocio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38144" y="3172968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8B949E"/>
                </a:solidFill>
              </a:rPr>
              <a:t>Consultoria tecnica y arquitectura de software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38144" y="3438144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8B949E"/>
                </a:solidFill>
              </a:rPr>
              <a:t>Plataformas de gestion, reservas, agendamiento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38144" y="3703320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8B949E"/>
                </a:solidFill>
              </a:rPr>
              <a:t>Apps web progresivas instalables (PWA)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438144" y="3968496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8B949E"/>
                </a:solidFill>
              </a:rPr>
              <a:t>Componentes reutilizables en Angular + .NET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38144" y="4233672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8B949E"/>
                </a:solidFill>
              </a:rPr>
              <a:t>Soporte tecnico por horas acordadas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36208" y="804672"/>
            <a:ext cx="2779776" cy="4187952"/>
          </a:xfrm>
          <a:prstGeom prst="rect">
            <a:avLst/>
          </a:prstGeom>
          <a:solidFill>
            <a:srgbClr val="161B22"/>
          </a:solidFill>
          <a:ln w="12700">
            <a:solidFill>
              <a:srgbClr val="3D44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36208" y="804672"/>
            <a:ext cx="2779776" cy="91440"/>
          </a:xfrm>
          <a:prstGeom prst="rect">
            <a:avLst/>
          </a:prstGeom>
          <a:solidFill>
            <a:srgbClr val="3D444D"/>
          </a:solidFill>
          <a:ln w="12700">
            <a:solidFill>
              <a:srgbClr val="3D44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73368" y="950976"/>
            <a:ext cx="2505456" cy="23774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73368" y="950976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</a:rPr>
              <a:t>&gt; MENSUAL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73368" y="1243584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SOPORTE Y MANTENIMIENTO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27648" y="1554480"/>
            <a:ext cx="259689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D1D9"/>
                </a:solidFill>
              </a:rPr>
              <a:t>$1.750.000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6327648" y="2057400"/>
            <a:ext cx="25968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COP / mes  |  contrato minimo 3 meses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419088" y="2304288"/>
            <a:ext cx="2414016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2377440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C9D1D9"/>
                </a:solidFill>
              </a:rPr>
              <a:t>30 horas mensuales de soporte y mantenimiento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82512" y="2642616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C9D1D9"/>
                </a:solidFill>
              </a:rPr>
              <a:t>Respuesta garantizada en maximo 4 horas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82512" y="2907792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C9D1D9"/>
                </a:solidFill>
              </a:rPr>
              <a:t>Monitoreo de servidores y disponibilidad 24/7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82512" y="3172968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8B949E"/>
                </a:solidFill>
              </a:rPr>
              <a:t>Backups automaticos de base de datos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382512" y="3438144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8B949E"/>
                </a:solidFill>
              </a:rPr>
              <a:t>Actualizaciones de seguridad y parches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82512" y="3703320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8B949E"/>
                </a:solidFill>
              </a:rPr>
              <a:t>Optimizaciones de rendimiento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382512" y="3968496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8B949E"/>
                </a:solidFill>
              </a:rPr>
              <a:t>Acceso a codigo y despliegues de emergencia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382512" y="4233672"/>
            <a:ext cx="250545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00"/>
                </a:solidFill>
              </a:rPr>
              <a:t>✓  </a:t>
            </a:r>
            <a:r>
              <a:rPr lang="en-US" sz="850" dirty="0">
                <a:solidFill>
                  <a:srgbClr val="8B949E"/>
                </a:solidFill>
              </a:rPr>
              <a:t>Reunion mensual de seguimiento y planificacion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47472" y="4919472"/>
            <a:ext cx="8412480" cy="201168"/>
          </a:xfrm>
          <a:prstGeom prst="rect">
            <a:avLst/>
          </a:prstGeom>
          <a:solidFill>
            <a:srgbClr val="FF6B00">
              <a:alpha val="12000"/>
            </a:srgbClr>
          </a:solidFill>
          <a:ln w="12700">
            <a:solidFill>
              <a:srgbClr val="FF6B00">
                <a:alpha val="3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117"/>
                </a:solidFill>
              </a:rPr>
              <a:t>NOTA: Todos los proyectos incluyen 15 dias de soporte post-entrega sin costo y la transferencia completa del codigo fuente y accesos a la infraestructura.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9456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Garantias y Compromisos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521208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Su tranquilidad y el exito de su proyecto son nuestra prioridad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804672"/>
            <a:ext cx="4206240" cy="1243584"/>
          </a:xfrm>
          <a:prstGeom prst="rect">
            <a:avLst/>
          </a:prstGeom>
          <a:solidFill>
            <a:srgbClr val="21262D"/>
          </a:solidFill>
          <a:ln w="12700">
            <a:solidFill>
              <a:srgbClr val="3D44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804672"/>
            <a:ext cx="64008" cy="124358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987552"/>
            <a:ext cx="475488" cy="47548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98755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5568" y="969264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Codigo Fuente 100% Suyo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15568" y="1243584"/>
            <a:ext cx="3337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00" dirty="0">
                <a:solidFill>
                  <a:srgbClr val="C9D1D9"/>
                </a:solidFill>
              </a:rPr>
              <a:t>Al finalizar el proyecto usted recibe el codigo fuente completo, sin licencias ni restricciones. Es el unico dueno de la propiedad intelectual. Entregamos GitHub, accesos y credenciales de produccion.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804672"/>
            <a:ext cx="4206240" cy="1243584"/>
          </a:xfrm>
          <a:prstGeom prst="rect">
            <a:avLst/>
          </a:prstGeom>
          <a:solidFill>
            <a:srgbClr val="21262D"/>
          </a:solidFill>
          <a:ln w="12700">
            <a:solidFill>
              <a:srgbClr val="3D44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804672"/>
            <a:ext cx="64008" cy="124358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9472" y="987552"/>
            <a:ext cx="475488" cy="47548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98755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DOC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22976" y="969264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Documentacion Exhaustiva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22976" y="1243584"/>
            <a:ext cx="3337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00" dirty="0">
                <a:solidFill>
                  <a:srgbClr val="C9D1D9"/>
                </a:solidFill>
              </a:rPr>
              <a:t>Entregamos manuales de usuario y tecnicos, coleccion de pruebas Postman (24+ requests), documentacion de la API (Swagger), guia de despliegue y acta de entrega firmada.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2176272"/>
            <a:ext cx="4206240" cy="1243584"/>
          </a:xfrm>
          <a:prstGeom prst="rect">
            <a:avLst/>
          </a:prstGeom>
          <a:solidFill>
            <a:srgbClr val="21262D"/>
          </a:solidFill>
          <a:ln w="12700">
            <a:solidFill>
              <a:srgbClr val="3D44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176272"/>
            <a:ext cx="64008" cy="124358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" y="2359152"/>
            <a:ext cx="475488" cy="47548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235915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PLZ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5568" y="2340864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Cumplimiento de Plazos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15568" y="2615184"/>
            <a:ext cx="3337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00" dirty="0">
                <a:solidFill>
                  <a:srgbClr val="C9D1D9"/>
                </a:solidFill>
              </a:rPr>
              <a:t>El trabajo se entrega en el tiempo acordado, con demos funcionales al cierre de cada sprint. Cualquier cambio en el alcance se documenta y se acuerda previamente con usted.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176272"/>
            <a:ext cx="4206240" cy="1243584"/>
          </a:xfrm>
          <a:prstGeom prst="rect">
            <a:avLst/>
          </a:prstGeom>
          <a:solidFill>
            <a:srgbClr val="21262D"/>
          </a:solidFill>
          <a:ln w="12700">
            <a:solidFill>
              <a:srgbClr val="3D44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176272"/>
            <a:ext cx="64008" cy="124358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19472" y="2359152"/>
            <a:ext cx="475488" cy="47548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35915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SOP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22976" y="2340864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Soporte Post-Entrega Garantizado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22976" y="2615184"/>
            <a:ext cx="3337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00" dirty="0">
                <a:solidFill>
                  <a:srgbClr val="C9D1D9"/>
                </a:solidFill>
              </a:rPr>
              <a:t>Acompanamiento garantizado durante los primeros 15 dias posteriores al lanzamiento para corregir cualquier falla sin costo adicional. Disponibles via WhatsApp en horario laboral.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3547872"/>
            <a:ext cx="4206240" cy="1243584"/>
          </a:xfrm>
          <a:prstGeom prst="rect">
            <a:avLst/>
          </a:prstGeom>
          <a:solidFill>
            <a:srgbClr val="21262D"/>
          </a:solidFill>
          <a:ln w="12700">
            <a:solidFill>
              <a:srgbClr val="3D44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" y="3547872"/>
            <a:ext cx="64008" cy="124358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" y="3730752"/>
            <a:ext cx="475488" cy="47548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373075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15568" y="3712464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Seguridad y Confidencialidad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15568" y="3986784"/>
            <a:ext cx="3337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00" dirty="0">
                <a:solidFill>
                  <a:srgbClr val="C9D1D9"/>
                </a:solidFill>
              </a:rPr>
              <a:t>Firmamos NDA (Acuerdo de Confidencialidad) antes de iniciar. Aplicamos estandares de seguridad ISO 27001, HTTPS, CORS, RBAC y hash de contrasenas en todos los proyectos.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547872"/>
            <a:ext cx="4206240" cy="1243584"/>
          </a:xfrm>
          <a:prstGeom prst="rect">
            <a:avLst/>
          </a:prstGeom>
          <a:solidFill>
            <a:srgbClr val="21262D"/>
          </a:solidFill>
          <a:ln w="12700">
            <a:solidFill>
              <a:srgbClr val="3D444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547872"/>
            <a:ext cx="64008" cy="124358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19472" y="3730752"/>
            <a:ext cx="475488" cy="47548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73075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ESC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522976" y="3712464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Escalabilidad y Futuro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22976" y="3986784"/>
            <a:ext cx="3337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00" dirty="0">
                <a:solidFill>
                  <a:srgbClr val="C9D1D9"/>
                </a:solidFill>
              </a:rPr>
              <a:t>Construimos con arquitecturas modernas (microservicios, cloud nativo) que permiten crecer sin reescribir. Puede ampliar funcionalidades cuando su negocio lo necesite, con o sin nosotros.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7472" y="4919472"/>
            <a:ext cx="8412480" cy="0"/>
          </a:xfrm>
          <a:prstGeom prst="line">
            <a:avLst/>
          </a:prstGeom>
          <a:noFill/>
          <a:ln w="1016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4956048"/>
            <a:ext cx="84124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6B00"/>
                </a:solidFill>
              </a:rPr>
              <a:t>No somos simplemente un proveedor de servicios. Somos el equipo que te respalda cuando la continuidad de tu negocio esta en juego.  — Equipo Outiltech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37760" y="731520"/>
            <a:ext cx="5669280" cy="5669280"/>
          </a:xfrm>
          <a:prstGeom prst="ellipse">
            <a:avLst/>
          </a:prstGeom>
          <a:solidFill>
            <a:srgbClr val="FF6B00">
              <a:alpha val="6000"/>
            </a:srgbClr>
          </a:solidFill>
          <a:ln w="12700">
            <a:solidFill>
              <a:srgbClr val="FF6B00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9456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Proximos Pasos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47472" y="676656"/>
            <a:ext cx="5943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6B00"/>
                </a:solidFill>
              </a:rPr>
              <a:t>Listo para transformar su negocio?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47472" y="1234440"/>
            <a:ext cx="5486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300" dirty="0">
                <a:solidFill>
                  <a:srgbClr val="C9D1D9"/>
                </a:solidFill>
              </a:rPr>
              <a:t>Agende una reunion inicial gratuita de 30 minutos</a:t>
            </a:r>
            <a:endParaRPr lang="en-US" sz="130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300" dirty="0">
                <a:solidFill>
                  <a:srgbClr val="C9D1D9"/>
                </a:solidFill>
              </a:rPr>
              <a:t>y construyamos algo que realmente marque la diferencia.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956816"/>
            <a:ext cx="338328" cy="33832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95681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" y="1984248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Agende una reunion de 30 min sin costo por WhatsApp o email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414016"/>
            <a:ext cx="338328" cy="33832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41401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6384" y="2441448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Analizamos su proyecto y le enviamos propuesta en 48 horas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2871216"/>
            <a:ext cx="338328" cy="33832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87121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" y="2898648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Acordamos alcance y presupuesto. Firma de contrato y NDA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328416"/>
            <a:ext cx="338328" cy="338328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328416"/>
            <a:ext cx="338328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" y="3355848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Iniciamos. Primer entregable funcional en la primera semana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895344"/>
            <a:ext cx="5486400" cy="0"/>
          </a:xfrm>
          <a:prstGeom prst="line">
            <a:avLst/>
          </a:prstGeom>
          <a:noFill/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4005072"/>
            <a:ext cx="2633472" cy="1005840"/>
          </a:xfrm>
          <a:prstGeom prst="rect">
            <a:avLst/>
          </a:prstGeom>
          <a:solidFill>
            <a:srgbClr val="1C2333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4005072"/>
            <a:ext cx="54864" cy="10058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4050792"/>
            <a:ext cx="23957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Jhonnatan Hernandez Medina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4270248"/>
            <a:ext cx="2395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Gerente Comercial  |  ISO 27001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3776" y="4453128"/>
            <a:ext cx="2395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</a:rPr>
              <a:t>Email: softhardgsm@gmail.com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3776" y="4636008"/>
            <a:ext cx="2395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</a:rPr>
              <a:t>WA: 304 592 8793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3776" y="4818888"/>
            <a:ext cx="2395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00"/>
                </a:solidFill>
              </a:rPr>
              <a:t>outiltech.co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090672" y="4005072"/>
            <a:ext cx="2706624" cy="1005840"/>
          </a:xfrm>
          <a:prstGeom prst="rect">
            <a:avLst/>
          </a:prstGeom>
          <a:solidFill>
            <a:srgbClr val="1C2333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90672" y="4005072"/>
            <a:ext cx="54864" cy="10058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36976" y="405079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Alejandro Chaparro Reyes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36976" y="427024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Full-Stack Senior  |  PhD Gestion Tecnologica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36976" y="445312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</a:rPr>
              <a:t>Email: alejandrochreyes2@gmail.com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36976" y="46360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D1D9"/>
                </a:solidFill>
              </a:rPr>
              <a:t>WA: 313 308 2905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36976" y="481888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00"/>
                </a:solidFill>
              </a:rPr>
              <a:t>outiltech.co  |  github.com/alejandrochreyes2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16752" y="768096"/>
            <a:ext cx="2743200" cy="4297680"/>
          </a:xfrm>
          <a:prstGeom prst="rect">
            <a:avLst/>
          </a:prstGeom>
          <a:solidFill>
            <a:srgbClr val="21262D"/>
          </a:solidFill>
          <a:ln w="12700">
            <a:solidFill>
              <a:srgbClr val="FF6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16752" y="768096"/>
            <a:ext cx="2743200" cy="914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16752" y="93268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6B00"/>
                </a:solidFill>
              </a:rPr>
              <a:t>OUTILTECH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6016752" y="137160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</a:rPr>
              <a:t>Tecnologia que transforma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36208" y="1682496"/>
            <a:ext cx="2304288" cy="0"/>
          </a:xfrm>
          <a:prstGeom prst="line">
            <a:avLst/>
          </a:prstGeom>
          <a:noFill/>
          <a:ln w="12700">
            <a:solidFill>
              <a:srgbClr val="FF6B00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1792224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00"/>
                </a:solidFill>
              </a:rPr>
              <a:t>&gt; </a:t>
            </a:r>
            <a:r>
              <a:rPr lang="en-US" sz="950" dirty="0">
                <a:solidFill>
                  <a:srgbClr val="C9D1D9"/>
                </a:solidFill>
              </a:rPr>
              <a:t>E-Commerce Profesional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44768" y="2075688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00"/>
                </a:solidFill>
              </a:rPr>
              <a:t>&gt; </a:t>
            </a:r>
            <a:r>
              <a:rPr lang="en-US" sz="950" dirty="0">
                <a:solidFill>
                  <a:srgbClr val="C9D1D9"/>
                </a:solidFill>
              </a:rPr>
              <a:t>Software a la Medida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44768" y="2359152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00"/>
                </a:solidFill>
              </a:rPr>
              <a:t>&gt; </a:t>
            </a:r>
            <a:r>
              <a:rPr lang="en-US" sz="950" dirty="0">
                <a:solidFill>
                  <a:srgbClr val="C9D1D9"/>
                </a:solidFill>
              </a:rPr>
              <a:t>Seguridad &amp; ISO 27001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44768" y="2642616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00"/>
                </a:solidFill>
              </a:rPr>
              <a:t>&gt; </a:t>
            </a:r>
            <a:r>
              <a:rPr lang="en-US" sz="950" dirty="0">
                <a:solidFill>
                  <a:srgbClr val="C9D1D9"/>
                </a:solidFill>
              </a:rPr>
              <a:t>Analisis Forense Digital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44768" y="292608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00"/>
                </a:solidFill>
              </a:rPr>
              <a:t>&gt; </a:t>
            </a:r>
            <a:r>
              <a:rPr lang="en-US" sz="950" dirty="0">
                <a:solidFill>
                  <a:srgbClr val="C9D1D9"/>
                </a:solidFill>
              </a:rPr>
              <a:t>DevOps &amp; Cloud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44768" y="3209544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00"/>
                </a:solidFill>
              </a:rPr>
              <a:t>&gt; </a:t>
            </a:r>
            <a:r>
              <a:rPr lang="en-US" sz="950" dirty="0">
                <a:solidFill>
                  <a:srgbClr val="C9D1D9"/>
                </a:solidFill>
              </a:rPr>
              <a:t>Apps Web Progresivas (PWA)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44768" y="3493008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00"/>
                </a:solidFill>
              </a:rPr>
              <a:t>&gt; </a:t>
            </a:r>
            <a:r>
              <a:rPr lang="en-US" sz="950" dirty="0">
                <a:solidFill>
                  <a:srgbClr val="C9D1D9"/>
                </a:solidFill>
              </a:rPr>
              <a:t>Integracion de IA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144768" y="3776472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00"/>
                </a:solidFill>
              </a:rPr>
              <a:t>&gt; </a:t>
            </a:r>
            <a:r>
              <a:rPr lang="en-US" sz="950" dirty="0">
                <a:solidFill>
                  <a:srgbClr val="C9D1D9"/>
                </a:solidFill>
              </a:rPr>
              <a:t>Capacitacion y Consultoria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36208" y="4096512"/>
            <a:ext cx="2304288" cy="0"/>
          </a:xfrm>
          <a:prstGeom prst="line">
            <a:avLst/>
          </a:prstGeom>
          <a:noFill/>
          <a:ln w="12700">
            <a:solidFill>
              <a:srgbClr val="FF6B00">
                <a:alpha val="4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08192" y="4160520"/>
            <a:ext cx="259689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8B949E"/>
                </a:solidFill>
              </a:rPr>
              <a:t>Cra 2A No 18A-52, Bogota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8B949E"/>
                </a:solidFill>
              </a:rPr>
              <a:t>outiltech.co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8B949E"/>
                </a:solidFill>
              </a:rPr>
              <a:t>304 592 8793 / 305 780 4236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p>
            <a:endParaRPr lang="es-MX" altLang="en-US"/>
          </a:p>
        </p:txBody>
      </p:sp>
      <p:sp>
        <p:nvSpPr>
          <p:cNvPr id="5" name="Text 3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</a:t>
            </a:r>
            <a:r>
              <a:rPr lang="es-MX" altLang="en-US" sz="1200" b="1" dirty="0">
                <a:solidFill>
                  <a:srgbClr val="FFFFFF"/>
                </a:solidFill>
              </a:rPr>
              <a:t>8</a:t>
            </a:r>
            <a:endParaRPr lang="es-MX" altLang="en-US" sz="1200" b="1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67970" y="914400"/>
            <a:ext cx="157353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altLang="en-US" sz="1000" dirty="0">
                <a:highlight>
                  <a:srgbClr val="008000"/>
                </a:highlight>
              </a:rPr>
              <a:t>MOCKUP 1 DE NUESTRA PAGINA PRINCIPAL</a:t>
            </a:r>
            <a:endParaRPr lang="es-MX" altLang="en-US" sz="1000" dirty="0">
              <a:highlight>
                <a:srgbClr val="0080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347472" y="676656"/>
            <a:ext cx="5943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MX" alt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347472" y="3895344"/>
            <a:ext cx="5486400" cy="0"/>
          </a:xfrm>
          <a:prstGeom prst="line">
            <a:avLst/>
          </a:prstGeom>
          <a:noFill/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4818888"/>
            <a:ext cx="2395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00"/>
                </a:solidFill>
              </a:rPr>
              <a:t>outiltech.co</a:t>
            </a:r>
            <a:endParaRPr lang="en-US" sz="850" dirty="0"/>
          </a:p>
        </p:txBody>
      </p:sp>
      <p:pic>
        <p:nvPicPr>
          <p:cNvPr id="54" name="Imagen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175" y="108585"/>
            <a:ext cx="7521575" cy="48933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</a:t>
            </a:r>
            <a:r>
              <a:rPr lang="es-MX" altLang="en-US" sz="1200" b="1" dirty="0">
                <a:solidFill>
                  <a:srgbClr val="FFFFFF"/>
                </a:solidFill>
              </a:rPr>
              <a:t>9</a:t>
            </a:r>
            <a:endParaRPr lang="es-MX" altLang="en-US" sz="1200" b="1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67970" y="914400"/>
            <a:ext cx="157353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altLang="en-US" sz="1000" dirty="0">
                <a:highlight>
                  <a:srgbClr val="008000"/>
                </a:highlight>
              </a:rPr>
              <a:t>MOCKUP 2 PORTAFOLIO WEB</a:t>
            </a:r>
            <a:endParaRPr lang="es-MX" altLang="en-US" sz="1000" dirty="0">
              <a:highlight>
                <a:srgbClr val="0080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347472" y="676656"/>
            <a:ext cx="5943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MX" alt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347472" y="3895344"/>
            <a:ext cx="5486400" cy="0"/>
          </a:xfrm>
          <a:prstGeom prst="line">
            <a:avLst/>
          </a:prstGeom>
          <a:noFill/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4818888"/>
            <a:ext cx="2395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00"/>
                </a:solidFill>
              </a:rPr>
              <a:t>outiltech.co</a:t>
            </a:r>
            <a:endParaRPr lang="en-US" sz="85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050" y="49530"/>
            <a:ext cx="6998970" cy="50711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altLang="en-US" sz="1200" b="1" dirty="0">
                <a:solidFill>
                  <a:srgbClr val="FFFFFF"/>
                </a:solidFill>
              </a:rPr>
              <a:t>10</a:t>
            </a:r>
            <a:endParaRPr lang="es-MX" altLang="en-US" sz="1200" b="1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67970" y="914400"/>
            <a:ext cx="12731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altLang="en-US" sz="1000" dirty="0">
                <a:highlight>
                  <a:srgbClr val="008000"/>
                </a:highlight>
              </a:rPr>
              <a:t>MOCKUP 3 TIENDA ECOMMERCE CARRITO DE COMPRA</a:t>
            </a:r>
            <a:endParaRPr lang="es-MX" altLang="en-US" sz="1000" dirty="0">
              <a:highlight>
                <a:srgbClr val="0080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347472" y="676656"/>
            <a:ext cx="5943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MX" alt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347472" y="3895344"/>
            <a:ext cx="5486400" cy="0"/>
          </a:xfrm>
          <a:prstGeom prst="line">
            <a:avLst/>
          </a:prstGeom>
          <a:noFill/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4818888"/>
            <a:ext cx="2395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00"/>
                </a:solidFill>
              </a:rPr>
              <a:t>outiltech.co</a:t>
            </a:r>
            <a:endParaRPr lang="en-US" sz="85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780" y="82550"/>
            <a:ext cx="7542530" cy="49485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00533"/>
            <a:ext cx="420624" cy="3108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altLang="en-US" sz="1200" dirty="0">
                <a:solidFill>
                  <a:schemeClr val="bg1"/>
                </a:solidFill>
              </a:rPr>
              <a:t>11</a:t>
            </a:r>
            <a:endParaRPr lang="es-MX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67970" y="914400"/>
            <a:ext cx="12731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altLang="en-US" sz="1000" dirty="0">
                <a:highlight>
                  <a:srgbClr val="008000"/>
                </a:highlight>
              </a:rPr>
              <a:t>MOCKUP 4 PASARELA DE PAGOS</a:t>
            </a:r>
            <a:endParaRPr lang="es-MX" altLang="en-US" sz="1000" dirty="0">
              <a:highlight>
                <a:srgbClr val="0080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347472" y="676656"/>
            <a:ext cx="5943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MX" alt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347472" y="3895344"/>
            <a:ext cx="5486400" cy="0"/>
          </a:xfrm>
          <a:prstGeom prst="line">
            <a:avLst/>
          </a:prstGeom>
          <a:noFill/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4818888"/>
            <a:ext cx="2395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00"/>
                </a:solidFill>
              </a:rPr>
              <a:t>outiltech.co</a:t>
            </a:r>
            <a:endParaRPr lang="en-US" sz="85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7540" y="0"/>
            <a:ext cx="6503035" cy="5142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altLang="en-US" sz="1200" b="1" dirty="0">
                <a:solidFill>
                  <a:srgbClr val="FFFFFF"/>
                </a:solidFill>
              </a:rPr>
              <a:t>12</a:t>
            </a:r>
            <a:endParaRPr lang="es-MX" altLang="en-US" sz="1200" b="1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67970" y="914400"/>
            <a:ext cx="12731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altLang="en-US" sz="1000" dirty="0">
                <a:highlight>
                  <a:srgbClr val="008000"/>
                </a:highlight>
              </a:rPr>
              <a:t>MOCKUP 4 NUESTROS PUNTOS EN GOOGLE MAPS</a:t>
            </a:r>
            <a:endParaRPr lang="es-MX" altLang="en-US" sz="1000" dirty="0">
              <a:highlight>
                <a:srgbClr val="0080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347472" y="676656"/>
            <a:ext cx="5943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MX" alt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347472" y="3895344"/>
            <a:ext cx="5486400" cy="0"/>
          </a:xfrm>
          <a:prstGeom prst="line">
            <a:avLst/>
          </a:prstGeom>
          <a:noFill/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4818888"/>
            <a:ext cx="2395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00"/>
                </a:solidFill>
              </a:rPr>
              <a:t>outiltech.co</a:t>
            </a:r>
            <a:endParaRPr lang="en-US" sz="85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" y="635"/>
            <a:ext cx="7361555" cy="51428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altLang="en-US" sz="1200" b="1" dirty="0">
                <a:solidFill>
                  <a:srgbClr val="FFFFFF"/>
                </a:solidFill>
              </a:rPr>
              <a:t>13</a:t>
            </a:r>
            <a:endParaRPr lang="es-MX" altLang="en-US" sz="1200" b="1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67970" y="914400"/>
            <a:ext cx="12731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altLang="en-US" sz="1000" dirty="0">
                <a:highlight>
                  <a:srgbClr val="008000"/>
                </a:highlight>
              </a:rPr>
              <a:t>MOCKUP 5 NUESTROS SERVICIOS </a:t>
            </a:r>
            <a:endParaRPr lang="es-MX" altLang="en-US" sz="1000" dirty="0">
              <a:highlight>
                <a:srgbClr val="0080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347472" y="676656"/>
            <a:ext cx="5943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MX" alt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347472" y="3895344"/>
            <a:ext cx="5486400" cy="0"/>
          </a:xfrm>
          <a:prstGeom prst="line">
            <a:avLst/>
          </a:prstGeom>
          <a:noFill/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4818888"/>
            <a:ext cx="2395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00"/>
                </a:solidFill>
              </a:rPr>
              <a:t>outiltech.co</a:t>
            </a:r>
            <a:endParaRPr lang="en-US" sz="85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090" y="0"/>
            <a:ext cx="754824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01168"/>
            <a:ext cx="4206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altLang="en-US" sz="1200" b="1" dirty="0">
                <a:solidFill>
                  <a:srgbClr val="FFFFFF"/>
                </a:solidFill>
              </a:rPr>
              <a:t>14</a:t>
            </a:r>
            <a:endParaRPr lang="es-MX" altLang="en-US" sz="1200" b="1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67970" y="914400"/>
            <a:ext cx="127317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altLang="en-US" sz="1000" dirty="0">
                <a:highlight>
                  <a:srgbClr val="008000"/>
                </a:highlight>
              </a:rPr>
              <a:t>MOCKUP 7 ZONA DE CONTACTO</a:t>
            </a:r>
            <a:endParaRPr lang="es-MX" altLang="en-US" sz="1000" dirty="0">
              <a:highlight>
                <a:srgbClr val="00800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347472" y="676656"/>
            <a:ext cx="5943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MX" alt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347472" y="3895344"/>
            <a:ext cx="5486400" cy="0"/>
          </a:xfrm>
          <a:prstGeom prst="line">
            <a:avLst/>
          </a:prstGeom>
          <a:noFill/>
          <a:ln w="12700">
            <a:solidFill>
              <a:srgbClr val="FF6B00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4818888"/>
            <a:ext cx="23957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00"/>
                </a:solidFill>
              </a:rPr>
              <a:t>outiltech.co</a:t>
            </a:r>
            <a:endParaRPr lang="en-US" sz="85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810" y="0"/>
            <a:ext cx="7559675" cy="51428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9660</Words>
  <Application>WPS Presentation</Application>
  <PresentationFormat>On-screen Show (16:9)</PresentationFormat>
  <Paragraphs>514</Paragraphs>
  <Slides>15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Servicios Outiltech 2026</dc:title>
  <dc:creator>Alejandro Chaparro Reyes — Outiltech</dc:creator>
  <dc:subject>PptxGenJS Presentation</dc:subject>
  <cp:lastModifiedBy>alejandrochreyes1 reyes</cp:lastModifiedBy>
  <cp:revision>3</cp:revision>
  <dcterms:created xsi:type="dcterms:W3CDTF">2026-04-25T02:10:00Z</dcterms:created>
  <dcterms:modified xsi:type="dcterms:W3CDTF">2026-04-25T15:27:11Z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2058-12.1.0.25862</vt:lpwstr>
  </property>
  <property fmtid="{D5CDD505-2E9C-101B-9397-08002B2CF9AE}" pid="3" name="ICV">
    <vt:lpwstr>9E454A18EFDA4B0B8F5E9A432ADC2010_12</vt:lpwstr>
  </property>
</Properties>
</file>