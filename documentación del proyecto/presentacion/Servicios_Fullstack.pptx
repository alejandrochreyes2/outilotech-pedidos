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0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790575" y="6748272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223760" y="0"/>
            <a:ext cx="1097280" cy="6858000"/>
          </a:xfrm>
          <a:prstGeom prst="rect">
            <a:avLst/>
          </a:prstGeom>
          <a:solidFill>
            <a:srgbClr val="083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1440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 panose="020F0502020204030204"/>
              </a:rPr>
              <a:t>ALEJANDRO</a:t>
            </a:r>
            <a:endParaRPr sz="5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00C2FF"/>
                </a:solidFill>
                <a:latin typeface="Calibri" panose="020F0502020204030204"/>
              </a:rPr>
              <a:t>CHAPARRO REYES</a:t>
            </a:r>
            <a:endParaRPr sz="3600" b="0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2606040"/>
            <a:ext cx="5029200" cy="45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690" y="4579620"/>
            <a:ext cx="6783070" cy="737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E4FF"/>
                </a:solidFill>
                <a:latin typeface="Calibri" panose="020F0502020204030204"/>
              </a:rPr>
              <a:t>▸  Ingeniero de Sistemas &amp; Doctor en Gestión Tecnológica e Innovación</a:t>
            </a:r>
            <a:endParaRPr sz="14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CCE4FF"/>
                </a:solidFill>
                <a:latin typeface="Calibri" panose="020F0502020204030204"/>
              </a:rPr>
              <a:t>▸  Desarrollador Fullstack Senior — Angular · .NET 8 · Microservicios</a:t>
            </a:r>
            <a:endParaRPr sz="14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CCE4FF"/>
                </a:solidFill>
                <a:latin typeface="Calibri" panose="020F0502020204030204"/>
              </a:rPr>
              <a:t>▸  Arquitecto de Software &amp; Consultor DevOps</a:t>
            </a:r>
            <a:endParaRPr sz="140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13716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  <a:latin typeface="Calibri" panose="020F0502020204030204"/>
              </a:rPr>
              <a:t>CONTACTO</a:t>
            </a:r>
            <a:endParaRPr sz="11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828800"/>
            <a:ext cx="3566160" cy="1276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📧  alejandrochreyes2@gmail.com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📱  WhatsApp: 313 308 2905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🌐  outiltech.co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🐙  github.com/alejandrochreyes2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lang="es-MX" sz="1100">
                <a:solidFill>
                  <a:srgbClr val="CCE4FF"/>
                </a:solidFill>
                <a:latin typeface="Calibri" panose="020F0502020204030204"/>
                <a:sym typeface="+mn-ea"/>
              </a:rPr>
              <a:t>Pagina web. </a:t>
            </a:r>
            <a:r>
              <a:rPr lang="en-US" altLang="es-MX" sz="1100">
                <a:solidFill>
                  <a:srgbClr val="CCE4FF"/>
                </a:solidFill>
                <a:latin typeface="Calibri" panose="020F0502020204030204"/>
                <a:sym typeface="+mn-ea"/>
              </a:rPr>
              <a:t>www.outiltech.co/portafolio</a:t>
            </a:r>
            <a:endParaRPr lang="en-US" altLang="es-MX" sz="11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📍  Bogotá D.C., Colombia — 2026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endParaRPr lang="en-US" altLang="es-MX" sz="110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5486400"/>
            <a:ext cx="7315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00C2FF"/>
                </a:solidFill>
                <a:latin typeface="Calibri" panose="020F0502020204030204"/>
              </a:rPr>
              <a:t>Transformo ideas en software que genera valor real.</a:t>
            </a:r>
            <a:r>
              <a:rPr lang="es-MX" sz="1600" b="0" i="1">
                <a:solidFill>
                  <a:srgbClr val="00C2FF"/>
                </a:solidFill>
                <a:latin typeface="Calibri" panose="020F0502020204030204"/>
              </a:rPr>
              <a:t>   </a:t>
            </a:r>
            <a:endParaRPr lang="es-MX" sz="1600" b="0" i="1">
              <a:solidFill>
                <a:srgbClr val="00C2FF"/>
              </a:solidFill>
              <a:latin typeface="Calibri" panose="020F0502020204030204"/>
            </a:endParaRPr>
          </a:p>
        </p:txBody>
      </p:sp>
      <p:pic>
        <p:nvPicPr>
          <p:cNvPr id="14" name="Imagen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6505" y="288290"/>
            <a:ext cx="2167255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09728" cy="5669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 panose="020F0502020204030204"/>
              </a:rPr>
              <a:t>01  PERFIL PROFESIONAL</a:t>
            </a:r>
            <a:endParaRPr sz="1100" b="1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 panose="020F0502020204030204"/>
              </a:rPr>
              <a:t>Quién soy y qué hago</a:t>
            </a:r>
            <a:endParaRPr sz="2800" b="1" i="0">
              <a:solidFill>
                <a:srgbClr val="0D1B3E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5760" y="132588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</a:rPr>
              <a:t>Soy Ingeniero de Sistemas con Doctorado en Gestión Tecnológica e Innovación,</a:t>
            </a:r>
            <a:endParaRPr sz="13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</a:rPr>
              <a:t>con más de 10 años de experiencia construyendo software empresarial de alto impacto.</a:t>
            </a:r>
            <a:endParaRPr sz="13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</a:rPr>
              <a:t>Especialista en arquitecturas modernas — microservicios en .NET 8, frontends en</a:t>
            </a:r>
            <a:endParaRPr sz="13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</a:rPr>
              <a:t>Angular 21 con Signals, e infraestructura cloud en Hetzner, Cloudflare y Azure.</a:t>
            </a:r>
            <a:endParaRPr sz="13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</a:p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</a:rPr>
              <a:t>Entrego proyectos completos: desde la arquitectura hasta el despliegue en producción,</a:t>
            </a:r>
            <a:endParaRPr sz="1300" b="0">
              <a:solidFill>
                <a:srgbClr val="1E293B"/>
              </a:solidFill>
              <a:latin typeface="Calibri" panose="020F0502020204030204"/>
            </a:endParaRPr>
          </a:p>
          <a:p>
            <a:pPr algn="l"/>
            <a:r>
              <a:rPr sz="1300" b="0">
                <a:solidFill>
                  <a:srgbClr val="1E293B"/>
                </a:solidFill>
                <a:latin typeface="Calibri" panose="020F0502020204030204"/>
              </a:rPr>
              <a:t>con documentación técnica, pruebas y capacitación al equipo del cliente.</a:t>
            </a:r>
            <a:endParaRPr sz="1300" b="0">
              <a:solidFill>
                <a:srgbClr val="1E293B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223760" y="1325880"/>
            <a:ext cx="45720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1325880"/>
            <a:ext cx="73152" cy="10972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399032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  <a:latin typeface="Calibri" panose="020F0502020204030204"/>
              </a:rPr>
              <a:t>10+</a:t>
            </a:r>
            <a:endParaRPr sz="30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06640" y="1920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Años de experiencia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23760" y="2587752"/>
            <a:ext cx="45720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23760" y="2587752"/>
            <a:ext cx="73152" cy="10972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660904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  <a:latin typeface="Calibri" panose="020F0502020204030204"/>
              </a:rPr>
              <a:t>36</a:t>
            </a:r>
            <a:endParaRPr sz="30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0" y="3182112"/>
            <a:ext cx="41148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Días para lanzar OutilTech desde cero</a:t>
            </a:r>
            <a:r>
              <a:rPr lang="es-MX" sz="1100" b="0" i="0">
                <a:solidFill>
                  <a:srgbClr val="CCE4FF"/>
                </a:solidFill>
                <a:latin typeface="Calibri" panose="020F0502020204030204"/>
              </a:rPr>
              <a:t> (ultimo caso de exito)</a:t>
            </a:r>
            <a:endParaRPr lang="es-MX"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23760" y="3849624"/>
            <a:ext cx="45720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23760" y="3849624"/>
            <a:ext cx="73152" cy="10972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3922776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  <a:latin typeface="Calibri" panose="020F0502020204030204"/>
              </a:rPr>
              <a:t>114</a:t>
            </a:r>
            <a:endParaRPr sz="30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06640" y="4443984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Productos en e-commerce en producción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223760" y="5111496"/>
            <a:ext cx="4572000" cy="10972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23760" y="5111496"/>
            <a:ext cx="73152" cy="10972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5184648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C2FF"/>
                </a:solidFill>
                <a:latin typeface="Calibri" panose="020F0502020204030204"/>
              </a:rPr>
              <a:t>$20M</a:t>
            </a:r>
            <a:endParaRPr sz="30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5705856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Proyecto entregado y firmado — 2026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62910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C2FF"/>
                </a:solidFill>
                <a:latin typeface="Calibri" panose="020F0502020204030204"/>
              </a:rPr>
              <a:t>"Antes del 21 de marzo de 2026, OutilTech no tenía ninguna presencia en internet. En 36 días lo cambié todo."</a:t>
            </a:r>
            <a:endParaRPr sz="1200" b="0" i="1">
              <a:solidFill>
                <a:srgbClr val="00C2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  <a:latin typeface="Calibri" panose="020F0502020204030204"/>
              </a:rPr>
              <a:t>02  STACK TECNOLÓGICO</a:t>
            </a:r>
            <a:endParaRPr sz="11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 panose="020F0502020204030204"/>
              </a:rPr>
              <a:t>Tecnologías que domino</a:t>
            </a:r>
            <a:endParaRPr sz="28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21031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4864" cy="2103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4904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FRONTEND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5488" y="1801368"/>
            <a:ext cx="3566159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Angular 21 · TypeScript 5 · Signals API · PWA · Tailwind CSS · RxJS · Angular Router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79392" y="1417320"/>
            <a:ext cx="3749039" cy="21031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9392" y="1417320"/>
            <a:ext cx="54864" cy="2103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904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BACKEND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89120" y="1801368"/>
            <a:ext cx="3566159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.NET 8 · ASP.NET Core · Microservicios · YARP API Gateway · JWT · Entity Framework Core · BCrypt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93024" y="1417320"/>
            <a:ext cx="3749039" cy="21031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93024" y="1417320"/>
            <a:ext cx="54864" cy="2103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490472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BASES DE DATOS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1801368"/>
            <a:ext cx="3566159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PostgreSQL 15 · MongoDB 6 · Supabase (realtime) · Migraciones automáticas · AppSheet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3749039" cy="21031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749039"/>
            <a:ext cx="54864" cy="2103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3822191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INFRAESTRUCTURA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5488" y="4133087"/>
            <a:ext cx="3566159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Docker · Coolify · Hetzner Cloud · Cloudflare (CDN · R2 · Pages) · Azure · GitHub Actions CI/CD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79392" y="3749039"/>
            <a:ext cx="3749039" cy="21031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9392" y="3749039"/>
            <a:ext cx="54864" cy="2103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822191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PAGOS &amp; APIs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89120" y="4133087"/>
            <a:ext cx="3566159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Wompi (tarjeta · PSE · Bancolombia) · Nequi · Daviplata QR · EmailJS · Swagger · Postman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93024" y="3749039"/>
            <a:ext cx="3749039" cy="210312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93024" y="3749039"/>
            <a:ext cx="54864" cy="21031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822191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SEGURIDAD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02752" y="4133087"/>
            <a:ext cx="3566159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ISO 27001 · Análisis Forense Digital · Auditoría de seguridad · RBAC · HTTPS · CORS · Helmet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 panose="020F0502020204030204"/>
              </a:rPr>
              <a:t>03  SERVICIOS</a:t>
            </a:r>
            <a:endParaRPr sz="1100" b="1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 panose="020F0502020204030204"/>
              </a:rPr>
              <a:t>¿Qué puedo construir para ti?</a:t>
            </a:r>
            <a:endParaRPr sz="2800" b="1" i="0">
              <a:solidFill>
                <a:srgbClr val="0D1B3E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379476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54864" cy="2194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44475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🛒  E-Commerce Completo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9768" y="1755648"/>
            <a:ext cx="36118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Tienda online profesional con catálogo,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carrito, checkout, pasarela de pagos,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panel admin y dashboard en tiempo real.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51959" y="1371600"/>
            <a:ext cx="379476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371600"/>
            <a:ext cx="54864" cy="2194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44475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⚙️  Software a la Medida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361688" y="1755648"/>
            <a:ext cx="36118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Plataformas de gestión, CRM, ERP,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sistemas de agendamiento, reservas,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módulos específicos para tu negocio.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183879" y="1371600"/>
            <a:ext cx="379476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371600"/>
            <a:ext cx="54864" cy="2194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7" y="1444752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🔒  Seguridad &amp; ISO 27001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93607" y="1755648"/>
            <a:ext cx="36118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Auditoría interna de seguridad,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análisis forense digital,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implementación de norma ISO 27001.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749039"/>
            <a:ext cx="379476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49039"/>
            <a:ext cx="54864" cy="2194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" y="3822191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☁️  DevOps &amp; Cloud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9768" y="4133087"/>
            <a:ext cx="36118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Configuración de servidores, Docker,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Coolify, CI/CD con GitHub Actions,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migración a la nube y optimización.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51959" y="3749039"/>
            <a:ext cx="379476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59" y="3749039"/>
            <a:ext cx="54864" cy="2194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61688" y="3822191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📱  Apps PWA Instalables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361688" y="4133087"/>
            <a:ext cx="36118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Aplicaciones web instalables en Android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e iOS sin app store, con notificaciones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y funcionamiento offline.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83879" y="3749039"/>
            <a:ext cx="3794760" cy="2194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79" y="3749039"/>
            <a:ext cx="54864" cy="21945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93607" y="3822191"/>
            <a:ext cx="3611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 panose="020F0502020204030204"/>
              </a:rPr>
              <a:t>🤖  IA en tu Plataforma</a:t>
            </a:r>
            <a:endParaRPr sz="13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93607" y="4133087"/>
            <a:ext cx="36118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Integración de modelos de lenguaje,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chatbots, automatización inteligente,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150" b="0">
                <a:solidFill>
                  <a:srgbClr val="CCE4FF"/>
                </a:solidFill>
                <a:latin typeface="Calibri" panose="020F0502020204030204"/>
              </a:rPr>
              <a:t>análisis de datos con IA.</a:t>
            </a:r>
            <a:endParaRPr sz="1150" b="0">
              <a:solidFill>
                <a:srgbClr val="CCE4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20" y="109728"/>
            <a:ext cx="3685032" cy="6748272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"/>
            <a:ext cx="73152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  <a:latin typeface="Calibri" panose="020F0502020204030204"/>
              </a:rPr>
              <a:t>04  </a:t>
            </a:r>
            <a:r>
              <a:rPr lang="es-MX" sz="1100" b="1" i="0">
                <a:solidFill>
                  <a:srgbClr val="00C2FF"/>
                </a:solidFill>
                <a:latin typeface="Calibri" panose="020F0502020204030204"/>
              </a:rPr>
              <a:t>ULTIMO </a:t>
            </a:r>
            <a:r>
              <a:rPr sz="1100" b="1" i="0">
                <a:solidFill>
                  <a:srgbClr val="00C2FF"/>
                </a:solidFill>
                <a:latin typeface="Calibri" panose="020F0502020204030204"/>
              </a:rPr>
              <a:t>CASO DE ÉXITO</a:t>
            </a:r>
            <a:endParaRPr sz="11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54864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OutilTech — E-Commerce en 36 días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2FF"/>
                </a:solidFill>
                <a:latin typeface="Calibri" panose="020F0502020204030204"/>
              </a:rPr>
              <a:t>De cero presencia digital a plataforma completa en producción.</a:t>
            </a:r>
            <a:endParaRPr sz="1300" b="0" i="1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114 productos con carrito, checkout y filtros por marca/categoría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Pasarela Wompi (tarjeta + PSE) + Nequi/Daviplata QR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Dashboard admin en tiempo real con Supabase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3 microservicios .NET 8 + API Gateway YARP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Autenticación JWT con roles Admin/Vendedor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EmailJS para confirmaciones automáticas de pedidos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AppSheet para gestión de inventario sin código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HTTPS + Cloudflare CDN + Hetzner VPS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13 documentos técnicos y comerciales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r>
              <a:rPr sz="1250" b="0">
                <a:solidFill>
                  <a:srgbClr val="CCE4FF"/>
                </a:solidFill>
                <a:latin typeface="Calibri" panose="020F0502020204030204"/>
              </a:rPr>
              <a:t>✅  30 horas de capacitación y soporte incluidas</a:t>
            </a:r>
            <a:endParaRPr sz="125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0" y="822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  <a:latin typeface="Calibri" panose="020F0502020204030204"/>
              </a:rPr>
              <a:t>36</a:t>
            </a:r>
            <a:endParaRPr sz="26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0" y="144475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días de desarrollo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778240" y="1920240"/>
            <a:ext cx="2926080" cy="27432"/>
          </a:xfrm>
          <a:prstGeom prst="rect">
            <a:avLst/>
          </a:prstGeom>
          <a:solidFill>
            <a:srgbClr val="2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224028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  <a:latin typeface="Calibri" panose="020F0502020204030204"/>
              </a:rPr>
              <a:t>$20M</a:t>
            </a:r>
            <a:endParaRPr sz="26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0" y="28620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COP — inversión firmada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778240" y="3337560"/>
            <a:ext cx="2926080" cy="27432"/>
          </a:xfrm>
          <a:prstGeom prst="rect">
            <a:avLst/>
          </a:prstGeom>
          <a:solidFill>
            <a:srgbClr val="2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65760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  <a:latin typeface="Calibri" panose="020F0502020204030204"/>
              </a:rPr>
              <a:t>99.9%</a:t>
            </a:r>
            <a:endParaRPr sz="26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0" y="427939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uptime en producción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778240" y="4754880"/>
            <a:ext cx="2926080" cy="27432"/>
          </a:xfrm>
          <a:prstGeom prst="rect">
            <a:avLst/>
          </a:prstGeom>
          <a:solidFill>
            <a:srgbClr val="2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50749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C2FF"/>
                </a:solidFill>
                <a:latin typeface="Calibri" panose="020F0502020204030204"/>
              </a:rPr>
              <a:t>outiltech.co</a:t>
            </a:r>
            <a:endParaRPr sz="26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0" y="56967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en producción hoy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 panose="020F0502020204030204"/>
              </a:rPr>
              <a:t>05  METODOLOGÍA</a:t>
            </a:r>
            <a:endParaRPr sz="1100" b="1" i="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1B3E"/>
                </a:solidFill>
                <a:latin typeface="Calibri" panose="020F0502020204030204"/>
              </a:rPr>
              <a:t>Cómo trabajo contigo — paso a paso</a:t>
            </a:r>
            <a:endParaRPr sz="2800" b="1" i="0">
              <a:solidFill>
                <a:srgbClr val="0D1B3E"/>
              </a:solidFill>
              <a:latin typeface="Calibri" panose="020F0502020204030204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51560" y="141732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1581912"/>
            <a:ext cx="969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 panose="020F0502020204030204"/>
              </a:rPr>
              <a:t>01</a:t>
            </a:r>
            <a:endParaRPr sz="28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" y="2514600"/>
            <a:ext cx="274320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514600"/>
            <a:ext cx="73152" cy="3474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Descubrimiento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990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  <a:latin typeface="Calibri" panose="020F0502020204030204"/>
              </a:rPr>
              <a:t>3–5 días</a:t>
            </a:r>
            <a:endParaRPr sz="1100" b="0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Reunión de requisitos, definición de alcance, arquitectura propuesta y presupuesto detallado.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127248" y="1828800"/>
            <a:ext cx="155448" cy="182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014216" y="141732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32504" y="1581912"/>
            <a:ext cx="969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 panose="020F0502020204030204"/>
              </a:rPr>
              <a:t>02</a:t>
            </a:r>
            <a:endParaRPr sz="28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82696" y="2514600"/>
            <a:ext cx="274320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82696" y="2514600"/>
            <a:ext cx="73152" cy="3474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19856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Desarrollo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419856" y="2990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  <a:latin typeface="Calibri" panose="020F0502020204030204"/>
              </a:rPr>
              <a:t>Sprints semanales</a:t>
            </a:r>
            <a:endParaRPr sz="1100" b="0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19856" y="33832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Entregas semanales funcionales. Demo al final de cada sprint. Código en GitHub desde el día 1.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089904" y="1828800"/>
            <a:ext cx="155448" cy="182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976872" y="141732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1581912"/>
            <a:ext cx="969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 panose="020F0502020204030204"/>
              </a:rPr>
              <a:t>03</a:t>
            </a:r>
            <a:endParaRPr sz="28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45352" y="2514600"/>
            <a:ext cx="274320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45352" y="2514600"/>
            <a:ext cx="73152" cy="3474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Pruebas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82512" y="2990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  <a:latin typeface="Calibri" panose="020F0502020204030204"/>
              </a:rPr>
              <a:t>3–5 días</a:t>
            </a:r>
            <a:endParaRPr sz="1100" b="0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382512" y="33832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Pruebas end-to-end, Postman, revisión de seguridad y configuración del servidor de producción.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052560" y="1828800"/>
            <a:ext cx="155448" cy="1828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39528" y="1417320"/>
            <a:ext cx="1005840" cy="1005840"/>
          </a:xfrm>
          <a:prstGeom prst="ellipse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57816" y="1581912"/>
            <a:ext cx="96926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C2FF"/>
                </a:solidFill>
                <a:latin typeface="Calibri" panose="020F0502020204030204"/>
              </a:rPr>
              <a:t>04</a:t>
            </a:r>
            <a:endParaRPr sz="28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08008" y="2514600"/>
            <a:ext cx="2743200" cy="34747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08008" y="2514600"/>
            <a:ext cx="73152" cy="34747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45168" y="260604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 panose="020F0502020204030204"/>
              </a:rPr>
              <a:t>Entrega</a:t>
            </a:r>
            <a:endParaRPr sz="1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45168" y="299008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  <a:latin typeface="Calibri" panose="020F0502020204030204"/>
              </a:rPr>
              <a:t>Capacitación + soporte</a:t>
            </a:r>
            <a:endParaRPr sz="1100" b="0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45168" y="33832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E4FF"/>
                </a:solidFill>
                <a:latin typeface="Calibri" panose="020F0502020204030204"/>
              </a:rPr>
              <a:t>URL funcionando, 15 días de soporte, manuales, acta de entrega firmada y 100% del código.</a:t>
            </a:r>
            <a:endParaRPr sz="1100" b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29107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C2FF"/>
                </a:solidFill>
                <a:latin typeface="Calibri" panose="020F0502020204030204"/>
              </a:rPr>
              <a:t>✅ Código 100% tuyo   |   ✅ Documentación completa   |   ✅ 15 días soporte post-entrega   |   ✅ Demos semanales   |   ✅ Precios fijos</a:t>
            </a:r>
            <a:endParaRPr sz="1200" b="1" i="0">
              <a:solidFill>
                <a:srgbClr val="00C2F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  <a:latin typeface="Calibri" panose="020F0502020204030204"/>
              </a:rPr>
              <a:t>06  INVERSIÓN</a:t>
            </a:r>
            <a:endParaRPr sz="11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 panose="020F0502020204030204"/>
              </a:rPr>
              <a:t>Modelos de servicio y precios referenciales</a:t>
            </a:r>
            <a:endParaRPr sz="26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120640"/>
          </a:xfrm>
          <a:prstGeom prst="rect">
            <a:avLst/>
          </a:prstGeom>
          <a:solidFill>
            <a:srgbClr val="085A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657600" cy="36576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3E"/>
                </a:solidFill>
                <a:latin typeface="Calibri" panose="020F0502020204030204"/>
              </a:rPr>
              <a:t>⭐ MÁS SOLICITADO</a:t>
            </a:r>
            <a:endParaRPr sz="1100" b="1" i="0">
              <a:solidFill>
                <a:srgbClr val="0D1B3E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73152" cy="5120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1051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  <a:latin typeface="Calibri" panose="020F0502020204030204"/>
              </a:rPr>
              <a:t>PROYECTO COMPLETO</a:t>
            </a:r>
            <a:endParaRPr sz="12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4360" y="226771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desde
$18.000.000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4360" y="304495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COP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360" y="3410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E-Commerce + panel admin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4360" y="3913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Pasarela de pagos integrada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4360" y="44165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30h soporte + documentación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4360" y="49194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Despliegue en producción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4360" y="542239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Código 100% del cliente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70832" y="1371600"/>
            <a:ext cx="3657600" cy="5120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0832" y="1371600"/>
            <a:ext cx="73152" cy="5120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4447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  <a:latin typeface="Calibri" panose="020F0502020204030204"/>
              </a:rPr>
              <a:t>DESARROLLO A MEDIDA</a:t>
            </a:r>
            <a:endParaRPr sz="12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07992" y="190195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$150.000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07992" y="2679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COP / hora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07992" y="30449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Funcionalidades adicionales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07992" y="3547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Integraciones con APIs externas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07992" y="405079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Módulos específicos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07992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Consultoría técnica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07992" y="5056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Mínimo 10 horas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8284464" y="1371600"/>
            <a:ext cx="3657600" cy="5120640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84464" y="1371600"/>
            <a:ext cx="73152" cy="51206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21624" y="14447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  <a:latin typeface="Calibri" panose="020F0502020204030204"/>
              </a:rPr>
              <a:t>SOPORTE MENSUAL</a:t>
            </a:r>
            <a:endParaRPr sz="12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421624" y="1901952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 panose="020F0502020204030204"/>
              </a:rPr>
              <a:t>$1.500.000</a:t>
            </a:r>
            <a:endParaRPr sz="22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21624" y="26791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COP / mes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421624" y="304495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30 horas de mantenimiento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21624" y="354787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Respuesta en 4 horas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21624" y="405079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Backups automáticos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21624" y="455371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Actualizaciones de seguridad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21624" y="5056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4FF"/>
                </a:solidFill>
                <a:latin typeface="Calibri" panose="020F0502020204030204"/>
              </a:rPr>
              <a:t>▸  Monitoreo continuo</a:t>
            </a:r>
            <a:endParaRPr sz="11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65379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Calibri" panose="020F0502020204030204"/>
              </a:rPr>
              <a:t>Todos los precios en COP sin IVA · Pago: 50% al iniciar / 50% al entregar · Reunión inicial GRATIS</a:t>
            </a:r>
            <a:endParaRPr sz="105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0" y="109728"/>
            <a:ext cx="5330952" cy="6748272"/>
          </a:xfrm>
          <a:prstGeom prst="rect">
            <a:avLst/>
          </a:prstGeom>
          <a:solidFill>
            <a:srgbClr val="16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6126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 panose="020F0502020204030204"/>
              </a:rPr>
              <a:t>¿Listo para empezar?</a:t>
            </a:r>
            <a:endParaRPr sz="3400" b="1" i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6126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E4FF"/>
                </a:solidFill>
                <a:latin typeface="Calibri" panose="020F0502020204030204"/>
              </a:rPr>
              <a:t>Agendemos una reunión inicial gratuita de 30 minutos
y construyamos algo que realmente marque la diferencia.</a:t>
            </a:r>
            <a:endParaRPr sz="14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612648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 panose="020F0502020204030204"/>
              </a:rPr>
              <a:t>📧  alejandrochreyes2@gmail.com</a:t>
            </a:r>
            <a:endParaRPr sz="1500" b="0">
              <a:solidFill>
                <a:srgbClr val="FFFFFF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FFFFFF"/>
                </a:solidFill>
                <a:latin typeface="Calibri" panose="020F0502020204030204"/>
              </a:rPr>
              <a:t>📱  WhatsApp: 313 308 2905</a:t>
            </a:r>
            <a:endParaRPr sz="1500" b="0">
              <a:solidFill>
                <a:srgbClr val="FFFFFF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FFFFFF"/>
                </a:solidFill>
                <a:latin typeface="Calibri" panose="020F0502020204030204"/>
              </a:rPr>
              <a:t>🌐  outiltech.co</a:t>
            </a:r>
            <a:endParaRPr sz="1500" b="0">
              <a:solidFill>
                <a:srgbClr val="FFFFFF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FFFFFF"/>
                </a:solidFill>
                <a:latin typeface="Calibri" panose="020F0502020204030204"/>
              </a:rPr>
              <a:t>🐙  github.com/alejandrochreyes2</a:t>
            </a:r>
            <a:endParaRPr sz="1500" b="0">
              <a:solidFill>
                <a:srgbClr val="FFFFFF"/>
              </a:solidFill>
              <a:latin typeface="Calibri" panose="020F0502020204030204"/>
            </a:endParaRPr>
          </a:p>
          <a:p>
            <a:pPr algn="l"/>
            <a:r>
              <a:rPr lang="es-MX" sz="1500">
                <a:solidFill>
                  <a:srgbClr val="CCE4FF"/>
                </a:solidFill>
                <a:latin typeface="Calibri" panose="020F0502020204030204"/>
                <a:sym typeface="+mn-ea"/>
              </a:rPr>
              <a:t>Pagina web. </a:t>
            </a:r>
            <a:r>
              <a:rPr lang="en-US" altLang="es-MX" sz="1500">
                <a:solidFill>
                  <a:srgbClr val="CCE4FF"/>
                </a:solidFill>
                <a:latin typeface="Calibri" panose="020F0502020204030204"/>
                <a:sym typeface="+mn-ea"/>
              </a:rPr>
              <a:t>www.outiltech.co/portafolio</a:t>
            </a:r>
            <a:endParaRPr lang="en-US" altLang="es-MX" sz="1500" b="0">
              <a:solidFill>
                <a:srgbClr val="CCE4FF"/>
              </a:solidFill>
              <a:latin typeface="Calibri" panose="020F0502020204030204"/>
            </a:endParaRPr>
          </a:p>
          <a:p>
            <a:pPr algn="l"/>
            <a:endParaRPr sz="1500" b="0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5212080"/>
            <a:ext cx="3474720" cy="6858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230368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3E"/>
                </a:solidFill>
                <a:latin typeface="Calibri" panose="020F0502020204030204"/>
              </a:rPr>
              <a:t>📅  Agenda una reunión gratis</a:t>
            </a:r>
            <a:endParaRPr sz="1400" b="1" i="0">
              <a:solidFill>
                <a:srgbClr val="0D1B3E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0" y="914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  <a:latin typeface="Calibri" panose="020F0502020204030204"/>
              </a:rPr>
              <a:t>GARANTÍAS</a:t>
            </a:r>
            <a:endParaRPr sz="1200" b="1" i="0">
              <a:solidFill>
                <a:srgbClr val="00C2FF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0" y="1417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8E"/>
                </a:solidFill>
                <a:latin typeface="Calibri" panose="020F0502020204030204"/>
              </a:rPr>
              <a:t>✅</a:t>
            </a:r>
            <a:endParaRPr sz="1400" b="0" i="0">
              <a:solidFill>
                <a:srgbClr val="00C88E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35240" y="14173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 panose="020F0502020204030204"/>
              </a:rPr>
              <a:t>Código fuente 100% tuyo al finalizar</a:t>
            </a:r>
            <a:endParaRPr sz="12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20574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8E"/>
                </a:solidFill>
                <a:latin typeface="Calibri" panose="020F0502020204030204"/>
              </a:rPr>
              <a:t>✅</a:t>
            </a:r>
            <a:endParaRPr sz="1400" b="0" i="0">
              <a:solidFill>
                <a:srgbClr val="00C88E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35240" y="205740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 panose="020F0502020204030204"/>
              </a:rPr>
              <a:t>Documentación técnica y comercial completa</a:t>
            </a:r>
            <a:endParaRPr sz="12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0" y="26974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8E"/>
                </a:solidFill>
                <a:latin typeface="Calibri" panose="020F0502020204030204"/>
              </a:rPr>
              <a:t>✅</a:t>
            </a:r>
            <a:endParaRPr sz="1400" b="0" i="0">
              <a:solidFill>
                <a:srgbClr val="00C88E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35240" y="269748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 panose="020F0502020204030204"/>
              </a:rPr>
              <a:t>15 días de soporte correctivo post-entrega</a:t>
            </a:r>
            <a:endParaRPr sz="12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0" y="333755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8E"/>
                </a:solidFill>
                <a:latin typeface="Calibri" panose="020F0502020204030204"/>
              </a:rPr>
              <a:t>✅</a:t>
            </a:r>
            <a:endParaRPr sz="1400" b="0" i="0">
              <a:solidFill>
                <a:srgbClr val="00C88E"/>
              </a:solidFill>
              <a:latin typeface="Calibri" panose="020F050202020403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35240" y="3337559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 panose="020F0502020204030204"/>
              </a:rPr>
              <a:t>Demos semanales — siempre sabrás el avance</a:t>
            </a:r>
            <a:endParaRPr sz="12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0" y="397763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8E"/>
                </a:solidFill>
                <a:latin typeface="Calibri" panose="020F0502020204030204"/>
              </a:rPr>
              <a:t>✅</a:t>
            </a:r>
            <a:endParaRPr sz="1400" b="0" i="0">
              <a:solidFill>
                <a:srgbClr val="00C88E"/>
              </a:solidFill>
              <a:latin typeface="Calibri" panose="020F050202020403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35240" y="3977639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 panose="020F0502020204030204"/>
              </a:rPr>
              <a:t>Precios fijos acordados desde el inicio</a:t>
            </a:r>
            <a:endParaRPr sz="12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0" y="4617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8E"/>
                </a:solidFill>
                <a:latin typeface="Calibri" panose="020F0502020204030204"/>
              </a:rPr>
              <a:t>✅</a:t>
            </a:r>
            <a:endParaRPr sz="1400" b="0" i="0">
              <a:solidFill>
                <a:srgbClr val="00C88E"/>
              </a:solidFill>
              <a:latin typeface="Calibri" panose="020F050202020403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35240" y="4617720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 panose="020F0502020204030204"/>
              </a:rPr>
              <a:t>Transferencia total de accesos y contraseñas</a:t>
            </a:r>
            <a:endParaRPr sz="12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0" y="5257799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8E"/>
                </a:solidFill>
                <a:latin typeface="Calibri" panose="020F0502020204030204"/>
              </a:rPr>
              <a:t>✅</a:t>
            </a:r>
            <a:endParaRPr sz="1400" b="0" i="0">
              <a:solidFill>
                <a:srgbClr val="00C88E"/>
              </a:solidFill>
              <a:latin typeface="Calibri" panose="020F050202020403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35240" y="5257799"/>
            <a:ext cx="4206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E4FF"/>
                </a:solidFill>
                <a:latin typeface="Calibri" panose="020F0502020204030204"/>
              </a:rPr>
              <a:t>Proyecto entregado en tiempo y forma</a:t>
            </a:r>
            <a:endParaRPr sz="1200" b="0" i="0">
              <a:solidFill>
                <a:srgbClr val="CCE4FF"/>
              </a:solidFill>
              <a:latin typeface="Calibri" panose="020F050202020403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57200" y="6355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 panose="020F0502020204030204"/>
              </a:rPr>
              <a:t>Alejandro Chaparro Reyes · Desarrollador Fullstack Senior · Bogotá, Colombia — 2026</a:t>
            </a:r>
            <a:endParaRPr sz="1000" b="0" i="0">
              <a:solidFill>
                <a:srgbClr val="64748B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5379</Words>
  <Application>WPS Presentation</Application>
  <PresentationFormat>On-screen Show (4:3)</PresentationFormat>
  <Paragraphs>291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alejandrochreyes1 reyes</cp:lastModifiedBy>
  <cp:revision>4</cp:revision>
  <dcterms:created xsi:type="dcterms:W3CDTF">2013-01-27T09:14:00Z</dcterms:created>
  <dcterms:modified xsi:type="dcterms:W3CDTF">2026-04-25T15:33:16Z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2058-12.1.0.25862</vt:lpwstr>
  </property>
  <property fmtid="{D5CDD505-2E9C-101B-9397-08002B2CF9AE}" pid="3" name="ICV">
    <vt:lpwstr>339CAC68FF184252A5AB8AF8C4335351_13</vt:lpwstr>
  </property>
</Properties>
</file>